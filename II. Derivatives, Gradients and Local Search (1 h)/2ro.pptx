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267" r:id="rId3"/>
    <p:sldId id="257" r:id="rId4"/>
    <p:sldId id="262" r:id="rId5"/>
    <p:sldId id="258" r:id="rId6"/>
    <p:sldId id="263" r:id="rId7"/>
    <p:sldId id="259" r:id="rId8"/>
    <p:sldId id="270" r:id="rId9"/>
    <p:sldId id="268" r:id="rId10"/>
    <p:sldId id="264" r:id="rId11"/>
    <p:sldId id="273" r:id="rId12"/>
    <p:sldId id="275" r:id="rId13"/>
    <p:sldId id="265" r:id="rId14"/>
    <p:sldId id="266" r:id="rId15"/>
    <p:sldId id="276" r:id="rId16"/>
    <p:sldId id="261" r:id="rId17"/>
    <p:sldId id="27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ica Ioana Lung" userId="64ee56e8d7162e1e" providerId="LiveId" clId="{FBA19D0F-677B-56B8-863E-85AFCD084619}"/>
    <pc:docChg chg="custSel delSld modSld">
      <pc:chgData name="Rodica Ioana Lung" userId="64ee56e8d7162e1e" providerId="LiveId" clId="{FBA19D0F-677B-56B8-863E-85AFCD084619}" dt="2026-08-31T08:21:21.257" v="9" actId="478"/>
      <pc:docMkLst>
        <pc:docMk/>
      </pc:docMkLst>
      <pc:sldChg chg="delSp mod">
        <pc:chgData name="Rodica Ioana Lung" userId="64ee56e8d7162e1e" providerId="LiveId" clId="{FBA19D0F-677B-56B8-863E-85AFCD084619}" dt="2026-08-31T08:18:53.634" v="1" actId="478"/>
        <pc:sldMkLst>
          <pc:docMk/>
          <pc:sldMk cId="623590176" sldId="257"/>
        </pc:sldMkLst>
        <pc:inkChg chg="del">
          <ac:chgData name="Rodica Ioana Lung" userId="64ee56e8d7162e1e" providerId="LiveId" clId="{FBA19D0F-677B-56B8-863E-85AFCD084619}" dt="2026-08-31T08:18:53.634" v="1" actId="478"/>
          <ac:inkMkLst>
            <pc:docMk/>
            <pc:sldMk cId="623590176" sldId="257"/>
            <ac:inkMk id="6" creationId="{F26836DB-C526-D10A-FCC4-A0F5C3CD1C8C}"/>
          </ac:inkMkLst>
        </pc:inkChg>
      </pc:sldChg>
      <pc:sldChg chg="delSp mod">
        <pc:chgData name="Rodica Ioana Lung" userId="64ee56e8d7162e1e" providerId="LiveId" clId="{FBA19D0F-677B-56B8-863E-85AFCD084619}" dt="2026-08-31T08:19:10.650" v="3" actId="478"/>
        <pc:sldMkLst>
          <pc:docMk/>
          <pc:sldMk cId="1133484566" sldId="258"/>
        </pc:sldMkLst>
        <pc:inkChg chg="del">
          <ac:chgData name="Rodica Ioana Lung" userId="64ee56e8d7162e1e" providerId="LiveId" clId="{FBA19D0F-677B-56B8-863E-85AFCD084619}" dt="2026-08-31T08:19:10.650" v="3" actId="478"/>
          <ac:inkMkLst>
            <pc:docMk/>
            <pc:sldMk cId="1133484566" sldId="258"/>
            <ac:inkMk id="4" creationId="{603E8FEC-61AE-169F-AEA4-20BD6FD98C59}"/>
          </ac:inkMkLst>
        </pc:inkChg>
      </pc:sldChg>
      <pc:sldChg chg="delSp modSp mod">
        <pc:chgData name="Rodica Ioana Lung" userId="64ee56e8d7162e1e" providerId="LiveId" clId="{FBA19D0F-677B-56B8-863E-85AFCD084619}" dt="2026-08-31T08:19:38.361" v="7" actId="478"/>
        <pc:sldMkLst>
          <pc:docMk/>
          <pc:sldMk cId="2672234205" sldId="259"/>
        </pc:sldMkLst>
        <pc:spChg chg="mod">
          <ac:chgData name="Rodica Ioana Lung" userId="64ee56e8d7162e1e" providerId="LiveId" clId="{FBA19D0F-677B-56B8-863E-85AFCD084619}" dt="2026-08-31T08:19:36.489" v="6" actId="20577"/>
          <ac:spMkLst>
            <pc:docMk/>
            <pc:sldMk cId="2672234205" sldId="259"/>
            <ac:spMk id="4" creationId="{2256C7E5-527F-427C-8723-720A90730BA1}"/>
          </ac:spMkLst>
        </pc:spChg>
        <pc:inkChg chg="del">
          <ac:chgData name="Rodica Ioana Lung" userId="64ee56e8d7162e1e" providerId="LiveId" clId="{FBA19D0F-677B-56B8-863E-85AFCD084619}" dt="2026-08-31T08:19:38.361" v="7" actId="478"/>
          <ac:inkMkLst>
            <pc:docMk/>
            <pc:sldMk cId="2672234205" sldId="259"/>
            <ac:inkMk id="5" creationId="{B3485D88-FEC4-650D-1EEA-4685B998CDBC}"/>
          </ac:inkMkLst>
        </pc:inkChg>
      </pc:sldChg>
      <pc:sldChg chg="delSp mod">
        <pc:chgData name="Rodica Ioana Lung" userId="64ee56e8d7162e1e" providerId="LiveId" clId="{FBA19D0F-677B-56B8-863E-85AFCD084619}" dt="2026-08-31T08:19:06.087" v="2" actId="478"/>
        <pc:sldMkLst>
          <pc:docMk/>
          <pc:sldMk cId="2796936990" sldId="262"/>
        </pc:sldMkLst>
        <pc:inkChg chg="del">
          <ac:chgData name="Rodica Ioana Lung" userId="64ee56e8d7162e1e" providerId="LiveId" clId="{FBA19D0F-677B-56B8-863E-85AFCD084619}" dt="2026-08-31T08:19:06.087" v="2" actId="478"/>
          <ac:inkMkLst>
            <pc:docMk/>
            <pc:sldMk cId="2796936990" sldId="262"/>
            <ac:inkMk id="4" creationId="{65A47840-C178-2BB6-A6B4-BB1439CE9AC9}"/>
          </ac:inkMkLst>
        </pc:inkChg>
      </pc:sldChg>
      <pc:sldChg chg="delSp mod">
        <pc:chgData name="Rodica Ioana Lung" userId="64ee56e8d7162e1e" providerId="LiveId" clId="{FBA19D0F-677B-56B8-863E-85AFCD084619}" dt="2026-08-31T08:19:17.007" v="4" actId="478"/>
        <pc:sldMkLst>
          <pc:docMk/>
          <pc:sldMk cId="1106269103" sldId="263"/>
        </pc:sldMkLst>
        <pc:inkChg chg="del">
          <ac:chgData name="Rodica Ioana Lung" userId="64ee56e8d7162e1e" providerId="LiveId" clId="{FBA19D0F-677B-56B8-863E-85AFCD084619}" dt="2026-08-31T08:19:17.007" v="4" actId="478"/>
          <ac:inkMkLst>
            <pc:docMk/>
            <pc:sldMk cId="1106269103" sldId="263"/>
            <ac:inkMk id="4" creationId="{877E23DC-AB28-6D88-2388-2D13C52F35F6}"/>
          </ac:inkMkLst>
        </pc:inkChg>
      </pc:sldChg>
      <pc:sldChg chg="delSp mod">
        <pc:chgData name="Rodica Ioana Lung" userId="64ee56e8d7162e1e" providerId="LiveId" clId="{FBA19D0F-677B-56B8-863E-85AFCD084619}" dt="2026-08-31T08:18:37.690" v="0" actId="478"/>
        <pc:sldMkLst>
          <pc:docMk/>
          <pc:sldMk cId="279775768" sldId="267"/>
        </pc:sldMkLst>
        <pc:inkChg chg="del">
          <ac:chgData name="Rodica Ioana Lung" userId="64ee56e8d7162e1e" providerId="LiveId" clId="{FBA19D0F-677B-56B8-863E-85AFCD084619}" dt="2026-08-31T08:18:37.690" v="0" actId="478"/>
          <ac:inkMkLst>
            <pc:docMk/>
            <pc:sldMk cId="279775768" sldId="267"/>
            <ac:inkMk id="4" creationId="{2C8DDE2C-F6C1-EEC4-DC13-41788BB89738}"/>
          </ac:inkMkLst>
        </pc:inkChg>
      </pc:sldChg>
      <pc:sldChg chg="delSp mod">
        <pc:chgData name="Rodica Ioana Lung" userId="64ee56e8d7162e1e" providerId="LiveId" clId="{FBA19D0F-677B-56B8-863E-85AFCD084619}" dt="2026-08-31T08:21:21.257" v="9" actId="478"/>
        <pc:sldMkLst>
          <pc:docMk/>
          <pc:sldMk cId="1483657188" sldId="268"/>
        </pc:sldMkLst>
        <pc:inkChg chg="del">
          <ac:chgData name="Rodica Ioana Lung" userId="64ee56e8d7162e1e" providerId="LiveId" clId="{FBA19D0F-677B-56B8-863E-85AFCD084619}" dt="2026-08-31T08:21:21.257" v="9" actId="478"/>
          <ac:inkMkLst>
            <pc:docMk/>
            <pc:sldMk cId="1483657188" sldId="268"/>
            <ac:inkMk id="6" creationId="{360A7DAF-71BF-2981-4C53-16D600B0CC1F}"/>
          </ac:inkMkLst>
        </pc:inkChg>
      </pc:sldChg>
      <pc:sldChg chg="delSp mod">
        <pc:chgData name="Rodica Ioana Lung" userId="64ee56e8d7162e1e" providerId="LiveId" clId="{FBA19D0F-677B-56B8-863E-85AFCD084619}" dt="2026-08-31T08:21:15.967" v="8" actId="478"/>
        <pc:sldMkLst>
          <pc:docMk/>
          <pc:sldMk cId="2988167581" sldId="270"/>
        </pc:sldMkLst>
        <pc:inkChg chg="del">
          <ac:chgData name="Rodica Ioana Lung" userId="64ee56e8d7162e1e" providerId="LiveId" clId="{FBA19D0F-677B-56B8-863E-85AFCD084619}" dt="2026-08-31T08:21:15.967" v="8" actId="478"/>
          <ac:inkMkLst>
            <pc:docMk/>
            <pc:sldMk cId="2988167581" sldId="270"/>
            <ac:inkMk id="6" creationId="{E3D61A72-2FC2-8FF8-7212-ADC1DED0C8A1}"/>
          </ac:inkMkLst>
        </pc:inkChg>
      </pc:sldChg>
      <pc:sldChg chg="del">
        <pc:chgData name="Rodica Ioana Lung" userId="64ee56e8d7162e1e" providerId="LiveId" clId="{FBA19D0F-677B-56B8-863E-85AFCD084619}" dt="2026-08-31T08:19:21.781" v="5" actId="2696"/>
        <pc:sldMkLst>
          <pc:docMk/>
          <pc:sldMk cId="2455030951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D3BEB-0F3B-4741-9124-3D7FD3D83A9B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00196-6B65-4AF4-BC29-830D1B2E3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35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E2ADF-E70E-496B-8BD7-550D04340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B0D65-BE05-4B35-8F6D-73EAB63B3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2886F-86EA-4116-9E71-D470F9877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6C0E-0136-4C7A-A339-B63AAF8CB76A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DCAFE-0545-4400-A769-7E16ACC95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41ACE-108F-4C93-BB6A-CEF0413C7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81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3FD4-60B4-480B-BC39-9E49D059E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0B314-2A2E-4D6F-B7E0-D13B1C288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C475C-872C-46AC-9661-9B791F16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75C13-E780-4412-85A7-2B75B873D13E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79430-A6B0-43D7-84F1-FE7D7D70E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5B379-1865-4046-9604-3224DEA46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29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51E9A-DD00-4B47-959E-56ABFF02C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DD434-D0AE-44E0-9DF7-86835E804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C9008-4E7C-4A77-977F-ABE89EA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E5316-668D-46C6-B8D1-07DF670FE95B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BE6AB-0149-4623-BD61-43B8B7D6F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D4956-E73C-46D4-8503-4289B0BF6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111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5DE44-C45F-4A5D-A3EE-100964FB5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54B15-ED3C-4777-9DD1-93FD69A528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E7507B-E1E2-4033-B5C3-12781E80E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C4450-5481-4A99-840F-883F65E6A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862CE-43F3-47D2-BEA2-AA6679B43CD5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64879-4B9C-40B1-9F51-EE2141F07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079143-FA1A-47B7-B069-DE2645E80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4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522A6-DA4B-4B6E-9BDB-A9F53E11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8B457-CDAF-4666-AE72-377252B52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19F650-AF7E-48A0-9BB7-05846747C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909A52-9E7C-4F2E-AAC0-32F57069A7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F102BC-81B7-4419-B175-DF3F98836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3D753-17FE-445D-AF71-5D0BFF9D5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EB845-5FDD-4FD4-8596-835E5D70A2A5}" type="datetime1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0DA6D1-D637-45A8-A0A2-A614327EB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5FC514-5653-445A-80EC-231E8BBF2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995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39256-EB34-4248-8195-0D24A498F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3CC509-BA14-4889-ADC3-C9E5133D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ED1F7-D96E-4D1F-9326-C71C42138379}" type="datetime1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A48C48-503C-47C5-8E1A-577B4A418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08F587-0DE3-4D5A-A8ED-660E86FF5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24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FBC22B-26E7-4EDA-BA4E-1FC9B5611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5B97-B17F-4593-BCB5-A5C78311FA38}" type="datetime1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0745DB-2D70-4C81-A176-8A6D3D697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CEB9B-2590-4836-8EE5-DD31B159B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866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000D5-15DF-4574-B648-1C5FE107A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9B5E2-DE3D-46E8-9D55-4FD501046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EC5B1E-5C00-46C0-BBAF-C5012D548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54C6E-A8F2-4E1B-934B-BC047BF11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11FF-70E0-4F8C-AC4D-1E96EBE06CFA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EBD7D6-24C7-4F10-A3F6-B752CA9C6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16CB3-1182-4948-9DEB-C1092E1E0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689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BB25-A175-424C-994D-EF88BB3B8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02D293-A176-4BDE-B4E4-A1806EFDEA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6D01-B8F7-429C-A199-51987BF0B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2E71F-8998-4B38-8CAD-45F22EB65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09F4-3F31-4A58-B941-14F13C202A03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11400-E40B-4F2C-9AE2-CD3C4C9A1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ABF31-62A0-46FD-BF87-3DAEE57F3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020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A2C8-30F7-4E56-A13A-FD9B5A1D5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AAB7F-B7FB-40A9-BF8C-DF858C490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96C62-DA17-45C5-9838-4F9549BDC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ADC5-5670-412F-A343-C4271AEC9C88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C8752-ACF5-420E-A608-D03D98462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A68BE-107F-4771-9DB2-0B6DB671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002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592905-69F6-4342-A91A-B48F2D961A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A926A-F93D-46DA-9FF1-FFFAFBEE0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5C14E-3D12-4B7E-B12F-BB48C1347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7D434-B2E8-4317-8FFF-7DDDFF59A5A8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DF5B5-7670-4ACB-A178-C8F2A383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0D185-27A8-40A6-AEF9-630D91BD0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056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0D1E4-68A0-4846-9D50-2EEC120D0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F8D5A-3483-4EA0-8A2A-3B80CAB70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84778-B325-4099-8B34-95A6C4D4C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75E88-5160-45C6-8806-A76E9F8CD273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ABCAB-DEE6-4D9C-9ED9-613781201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BB522-85AB-4606-AD1C-06E75941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1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C077F1-FD46-48C9-B5E9-1E7686BE9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35B74-38FA-46EB-98BF-36762AFD4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104A3-2D6C-4282-B371-A7A01D715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29C41-92D6-4D1E-A7E4-1C97277E366F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20849-7022-488C-AE62-4C2F26C738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4C19B-8DBF-45AF-B843-27523CFFC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00B8D-D664-44F5-A425-7CC54EA7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25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C88D6-3997-4F72-8DC3-AAC3DB72CC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Derivatives and Gradients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123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CD83A1D-75A3-487B-B688-85F17973C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Derivatives tell us which direction to search for a solution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32C68-EF42-4EFB-9AB8-C1E75443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Derivatives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B8458D-F011-43B4-A2BD-C40B9DAE6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75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32C68-EF42-4EFB-9AB8-C1E75443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Derivatives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9491970-50DB-4AAA-949E-6DF4099DE8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0" y="1400779"/>
            <a:ext cx="4490286" cy="4056442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CD83A1D-75A3-487B-B688-85F17973C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Slope of Tangent Line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F40EDDC-21E5-462E-A3E8-66406E48C3DF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258" r="38629"/>
          <a:stretch/>
        </p:blipFill>
        <p:spPr>
          <a:xfrm>
            <a:off x="1001865" y="2507034"/>
            <a:ext cx="3371353" cy="101419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A3633B-C362-481C-9F29-F5DC825B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90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32C68-EF42-4EFB-9AB8-C1E75443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Derivatives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EA7210B-67EE-4A42-8427-E762B69503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370" y="3559795"/>
            <a:ext cx="11299259" cy="306387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15AB88A-BACB-4DF2-9222-09CD354D8E35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778" r="31186"/>
          <a:stretch/>
        </p:blipFill>
        <p:spPr>
          <a:xfrm>
            <a:off x="693087" y="1339969"/>
            <a:ext cx="6176840" cy="83637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5A13D02-5D6B-4F65-B8C2-D6E523C9C1D3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8392" r="40039"/>
          <a:stretch/>
        </p:blipFill>
        <p:spPr>
          <a:xfrm>
            <a:off x="516473" y="2311281"/>
            <a:ext cx="3720247" cy="114743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182046-0CD3-46D7-A159-448B00D74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36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791D9-BDE9-4F7C-AC8C-55FA21FA4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fr-FR" b="0" i="1" u="none" strike="noStrike" baseline="0" err="1">
                <a:latin typeface="TeXGyrePagella-Italic" panose="02000603020200000004" pitchFamily="50" charset="0"/>
              </a:rPr>
              <a:t>Derivatives</a:t>
            </a:r>
            <a:r>
              <a:rPr lang="fr-FR" b="0" i="1" u="none" strike="noStrike" baseline="0">
                <a:latin typeface="TeXGyrePagella-Italic" panose="02000603020200000004" pitchFamily="50" charset="0"/>
              </a:rPr>
              <a:t> in Multiple Dimensions</a:t>
            </a:r>
            <a:endParaRPr lang="fr-FR" b="0" i="0" u="none" strike="noStrike" baseline="0">
              <a:latin typeface="TeXGyrePagella-Regular" panose="02000603020200000003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ED00FBA-DA92-4C50-A383-1ACB2A9054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6618" y="1300017"/>
            <a:ext cx="5537585" cy="4401671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7FA8869-4675-450B-B0EF-CD0FBBBCD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Gradient Vector</a:t>
            </a:r>
          </a:p>
          <a:p>
            <a:endParaRPr lang="en-US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endParaRPr lang="en-US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endParaRPr lang="en-US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Hessian Matrix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EC8D712-6407-4DFF-A451-AE007FF527E5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4511" r="25650"/>
          <a:stretch/>
        </p:blipFill>
        <p:spPr>
          <a:xfrm>
            <a:off x="648182" y="2581939"/>
            <a:ext cx="5903089" cy="73710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3CB081D-AD9C-4061-9841-617C5151DFC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2543" r="22967"/>
          <a:stretch/>
        </p:blipFill>
        <p:spPr>
          <a:xfrm>
            <a:off x="775503" y="4634873"/>
            <a:ext cx="5537585" cy="161380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D0EB6-088E-46D8-A6A6-BEA368108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84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791D9-BDE9-4F7C-AC8C-55FA21FA4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fr-FR" b="0" i="1" u="none" strike="noStrike" baseline="0" err="1">
                <a:latin typeface="TeXGyrePagella-Italic" panose="02000603020200000004" pitchFamily="50" charset="0"/>
              </a:rPr>
              <a:t>Derivatives</a:t>
            </a:r>
            <a:r>
              <a:rPr lang="fr-FR" b="0" i="1" u="none" strike="noStrike" baseline="0">
                <a:latin typeface="TeXGyrePagella-Italic" panose="02000603020200000004" pitchFamily="50" charset="0"/>
              </a:rPr>
              <a:t> in Multiple Dimensions</a:t>
            </a:r>
            <a:endParaRPr lang="fr-FR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7FA8869-4675-450B-B0EF-CD0FBBBCD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i="1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Directional Derivative</a:t>
            </a:r>
          </a:p>
          <a:p>
            <a:endParaRPr lang="en-US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1728487-E2A1-4A0B-976B-E553FD7F6BE0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63094" b="85391"/>
          <a:stretch/>
        </p:blipFill>
        <p:spPr>
          <a:xfrm>
            <a:off x="-89853" y="2289382"/>
            <a:ext cx="4725463" cy="21043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666D197-9C2E-45DC-BBC3-87D9CECE0503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6958" t="217" r="36898" b="88575"/>
          <a:stretch/>
        </p:blipFill>
        <p:spPr>
          <a:xfrm>
            <a:off x="4635610" y="3425619"/>
            <a:ext cx="3347499" cy="1614461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60599FD-6B20-4B7F-8363-66D17F141139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2803" t="2262" r="14903" b="90345"/>
          <a:stretch/>
        </p:blipFill>
        <p:spPr>
          <a:xfrm>
            <a:off x="7983109" y="5040080"/>
            <a:ext cx="2854518" cy="106493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B8D379-BAC3-4B56-AC1D-1C6921CD0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269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21E4-D499-44CB-B94D-E39586DF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Numerical Differentiation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56C7E5-527F-427C-8723-720A90730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i="1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Finite Difference Methods</a:t>
            </a:r>
          </a:p>
          <a:p>
            <a:endParaRPr lang="en-US" i="1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28222C-265A-496A-B3CB-12F91B5B8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34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21E4-D499-44CB-B94D-E39586DF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Numerical Differentiation: Finite Difference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56C7E5-527F-427C-8723-720A90730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i="1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Derivation from Taylor series expansion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1C6B743-C401-42BC-8351-8C9E239F420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4687" r="14825"/>
          <a:stretch/>
        </p:blipFill>
        <p:spPr>
          <a:xfrm>
            <a:off x="716280" y="2583180"/>
            <a:ext cx="10637520" cy="103632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3C6C3B-AB48-4418-88BF-91EDE5D5C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67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21E4-D499-44CB-B94D-E39586DF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Numerical Differentiation: Finite Difference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56C7E5-527F-427C-8723-720A90730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i="1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Neighboring points are used to approximate the derivative</a:t>
            </a:r>
          </a:p>
          <a:p>
            <a:endParaRPr lang="en-US" i="1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endParaRPr lang="en-US" i="1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endParaRPr lang="en-US" i="1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endParaRPr lang="en-US" i="1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endParaRPr lang="en-US" i="1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endParaRPr lang="en-US" i="1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r>
              <a:rPr lang="en-US" i="1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h too small causes numerical cancellation errors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8FF81C1-EBC2-4BA9-8E91-9D6A7925A540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18200"/>
          <a:stretch/>
        </p:blipFill>
        <p:spPr>
          <a:xfrm>
            <a:off x="535835" y="2770822"/>
            <a:ext cx="11120329" cy="154209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15F7B1-F5CE-4540-809D-D371952C7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F202F3-3B4D-AC4E-D035-3353645CB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0" y="4492306"/>
            <a:ext cx="55118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657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21E4-D499-44CB-B94D-E39586DF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1" u="none" strike="noStrike" baseline="0">
                <a:latin typeface="TeXGyrePagella-Italic" panose="02000603020200000004" pitchFamily="50" charset="0"/>
              </a:rPr>
              <a:t>Automatic Differentiation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56C7E5-527F-427C-8723-720A90730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Evaluate a function and compute partial derivatives simultaneously using the chain rule of differentiation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72E35BD-BFAD-452C-A683-F050C81B61D9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6753" r="26721"/>
          <a:stretch/>
        </p:blipFill>
        <p:spPr>
          <a:xfrm>
            <a:off x="2324100" y="2837497"/>
            <a:ext cx="7543800" cy="118300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B401C8-BE11-4F55-A1F9-6E49256CC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635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21E4-D499-44CB-B94D-E39586DF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1" u="none" strike="noStrike" baseline="0">
                <a:latin typeface="TeXGyrePagella-Italic" panose="02000603020200000004" pitchFamily="50" charset="0"/>
              </a:rPr>
              <a:t>Automatic Differentiation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56C7E5-527F-427C-8723-720A90730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Forward Accumulation is equivalent to expanding a function using the chain rule and computing the derivatives inside-out</a:t>
            </a:r>
          </a:p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Requires </a:t>
            </a:r>
            <a:r>
              <a:rPr lang="en-US" i="1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n</a:t>
            </a:r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-passes to compute </a:t>
            </a:r>
            <a:r>
              <a:rPr lang="en-US" i="1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n</a:t>
            </a:r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-dimensional gradient</a:t>
            </a:r>
          </a:p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Example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83A47B6-7C83-44E8-B412-93B2A68A3599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6306" t="26222" r="37645" b="70324"/>
          <a:stretch/>
        </p:blipFill>
        <p:spPr>
          <a:xfrm>
            <a:off x="2846566" y="3856383"/>
            <a:ext cx="5931674" cy="101776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93B382-856C-4472-BC0B-B56BFC2C7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663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21E4-D499-44CB-B94D-E39586DF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1" u="none" strike="noStrike" baseline="0">
                <a:latin typeface="TeXGyrePagella-Italic" panose="02000603020200000004" pitchFamily="50" charset="0"/>
              </a:rPr>
              <a:t>Automatic Differentiation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56C7E5-527F-427C-8723-720A90730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Forward Accumulation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D4481C3-481A-405E-A2F7-9938570B17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1438" y="2586725"/>
            <a:ext cx="6982700" cy="344510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CC3E2AE-67CF-4FD5-8708-A635910F32A8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306" t="26222" r="37645" b="70324"/>
          <a:stretch/>
        </p:blipFill>
        <p:spPr>
          <a:xfrm>
            <a:off x="5168347" y="1568957"/>
            <a:ext cx="5931674" cy="101776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F0162F-B9CA-429B-BA99-6714F03CD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746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21E4-D499-44CB-B94D-E39586DF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Automatic Differentiation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56C7E5-527F-427C-8723-720A90730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Forward Accumulation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2A0DDE8-B6B9-4E66-B745-3D40ED05B8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20150" y="2379013"/>
            <a:ext cx="8000851" cy="364303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698D5B5-95A9-4760-9242-16EBBF8A4CC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306" t="26222" r="37645" b="70324"/>
          <a:stretch/>
        </p:blipFill>
        <p:spPr>
          <a:xfrm>
            <a:off x="5168347" y="1568957"/>
            <a:ext cx="5931674" cy="101776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4334C5-1098-47F1-8781-05E6ECBE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094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21E4-D499-44CB-B94D-E39586DF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1" u="none" strike="noStrike" baseline="0">
                <a:latin typeface="TeXGyrePagella-Italic" panose="02000603020200000004" pitchFamily="50" charset="0"/>
              </a:rPr>
              <a:t>Automatic Differentiation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56C7E5-527F-427C-8723-720A90730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Forward Accumulation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3DE9173-848D-41A1-AD66-3D35AF4DDF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20150" y="2379013"/>
            <a:ext cx="9153957" cy="446197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1C3A1D3-AA9F-4684-AC95-A6FEFA2BB495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306" t="26222" r="37645" b="70324"/>
          <a:stretch/>
        </p:blipFill>
        <p:spPr>
          <a:xfrm>
            <a:off x="5168347" y="1568957"/>
            <a:ext cx="5931674" cy="101776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77ECD3-AC7A-4001-A757-5D33E658D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13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21E4-D499-44CB-B94D-E39586DF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1" u="none" strike="noStrike" baseline="0">
                <a:latin typeface="TeXGyrePagella-Italic" panose="02000603020200000004" pitchFamily="50" charset="0"/>
              </a:rPr>
              <a:t>Automatic Differentiation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56C7E5-527F-427C-8723-720A90730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Reverse accumulation is performed in single run using two passes over an </a:t>
            </a:r>
            <a:r>
              <a:rPr lang="en-US" i="1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n</a:t>
            </a:r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-dimensional function (forward and back)</a:t>
            </a:r>
          </a:p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Note: this is central to the backpropagation algorithm used to train neural networks</a:t>
            </a:r>
          </a:p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Many open-source software implementations are available</a:t>
            </a:r>
          </a:p>
          <a:p>
            <a:endParaRPr lang="en-US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903B8E-0DB4-4E59-B82F-B1EDDF86C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73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7D16-8ACE-4EED-BA8E-351948033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Summary</a:t>
            </a:r>
            <a:endParaRPr lang="en-US" b="0" i="0" u="none" strike="noStrike" baseline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BFF61-09DE-44CB-999A-9065C8176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948392"/>
          </a:xfrm>
        </p:spPr>
        <p:txBody>
          <a:bodyPr>
            <a:normAutofit/>
          </a:bodyPr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Derivatives are useful in optimization because they provide information about how to change a given point in order to improve the objective function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For multivariate functions, various derivative-based concepts are useful for directing the search for an optimum, including the gradient, the Hessian, and the directional derivative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One approach to numerical differentiation includes finite difference approximations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2027D-0C9D-4D11-8735-C5A5D1B3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55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7D16-8ACE-4EED-BA8E-351948033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Summary</a:t>
            </a:r>
            <a:endParaRPr lang="en-US" b="0" i="0" u="none" strike="noStrike" baseline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BFF61-09DE-44CB-999A-9065C8176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948392"/>
          </a:xfrm>
        </p:spPr>
        <p:txBody>
          <a:bodyPr>
            <a:normAutofit/>
          </a:bodyPr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Complex step method can eliminate the effect of subtractive cancellation error when taking small steps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Analytic differentiation methods include forward and reverse accumulation on computational graphs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8F742-38F5-47C5-A7B1-DC92C2B90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2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268</Words>
  <Application>Microsoft Macintosh PowerPoint</Application>
  <PresentationFormat>Widescreen</PresentationFormat>
  <Paragraphs>66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TeX Gyre Pagella</vt:lpstr>
      <vt:lpstr>TeXGyrePagella-Italic</vt:lpstr>
      <vt:lpstr>TeXGyrePagella-Regular</vt:lpstr>
      <vt:lpstr>Times New Roman</vt:lpstr>
      <vt:lpstr>Office Theme</vt:lpstr>
      <vt:lpstr>Derivatives and Gradients</vt:lpstr>
      <vt:lpstr>Derivatives</vt:lpstr>
      <vt:lpstr>Derivatives</vt:lpstr>
      <vt:lpstr>Derivatives</vt:lpstr>
      <vt:lpstr>Derivatives in Multiple Dimensions</vt:lpstr>
      <vt:lpstr>Derivatives in Multiple Dimensions</vt:lpstr>
      <vt:lpstr>Numerical Differentiation</vt:lpstr>
      <vt:lpstr>Numerical Differentiation: Finite Difference</vt:lpstr>
      <vt:lpstr>Numerical Differentiation: Finite Difference</vt:lpstr>
      <vt:lpstr>Automatic Differentiation</vt:lpstr>
      <vt:lpstr>Automatic Differentiation</vt:lpstr>
      <vt:lpstr>Automatic Differentiation</vt:lpstr>
      <vt:lpstr>Automatic Differentiation</vt:lpstr>
      <vt:lpstr>Automatic Differentiation</vt:lpstr>
      <vt:lpstr>Automatic Differentiation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 Derivatives and Gradients</dc:title>
  <dc:creator>M Gobbs</dc:creator>
  <cp:lastModifiedBy>Rodica Ioana Lung</cp:lastModifiedBy>
  <cp:revision>1</cp:revision>
  <dcterms:created xsi:type="dcterms:W3CDTF">2019-01-30T07:43:29Z</dcterms:created>
  <dcterms:modified xsi:type="dcterms:W3CDTF">2026-08-31T08:21:26Z</dcterms:modified>
</cp:coreProperties>
</file>